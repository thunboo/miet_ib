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A15"/>
    <a:srgbClr val="08091B"/>
    <a:srgbClr val="18183D"/>
    <a:srgbClr val="151627"/>
    <a:srgbClr val="0808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8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CFF62-80E2-42E5-8083-1AD46A0DA2DA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8390-8851-4C44-84A3-9FB74CC77A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4443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CFF62-80E2-42E5-8083-1AD46A0DA2DA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8390-8851-4C44-84A3-9FB74CC77A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399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CFF62-80E2-42E5-8083-1AD46A0DA2DA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8390-8851-4C44-84A3-9FB74CC77A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036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CFF62-80E2-42E5-8083-1AD46A0DA2DA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8390-8851-4C44-84A3-9FB74CC77A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613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CFF62-80E2-42E5-8083-1AD46A0DA2DA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8390-8851-4C44-84A3-9FB74CC77A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91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CFF62-80E2-42E5-8083-1AD46A0DA2DA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8390-8851-4C44-84A3-9FB74CC77A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3811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CFF62-80E2-42E5-8083-1AD46A0DA2DA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8390-8851-4C44-84A3-9FB74CC77A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70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CFF62-80E2-42E5-8083-1AD46A0DA2DA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8390-8851-4C44-84A3-9FB74CC77A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032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CFF62-80E2-42E5-8083-1AD46A0DA2DA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8390-8851-4C44-84A3-9FB74CC77A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051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CFF62-80E2-42E5-8083-1AD46A0DA2DA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8390-8851-4C44-84A3-9FB74CC77A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403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CFF62-80E2-42E5-8083-1AD46A0DA2DA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8390-8851-4C44-84A3-9FB74CC77A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61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CFF62-80E2-42E5-8083-1AD46A0DA2DA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8E8390-8851-4C44-84A3-9FB74CC77A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1143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30492" y="1497075"/>
            <a:ext cx="9144000" cy="2387600"/>
          </a:xfrm>
        </p:spPr>
        <p:txBody>
          <a:bodyPr>
            <a:normAutofit/>
          </a:bodyPr>
          <a:lstStyle/>
          <a:p>
            <a:r>
              <a:rPr lang="en-US" sz="8000" b="1" dirty="0" err="1"/>
              <a:t>Visary</a:t>
            </a:r>
            <a:r>
              <a:rPr lang="en-US" sz="8000" b="1" dirty="0"/>
              <a:t> Project</a:t>
            </a:r>
            <a:endParaRPr lang="ru-RU" sz="80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526453" y="4658678"/>
            <a:ext cx="9144000" cy="1655762"/>
          </a:xfrm>
        </p:spPr>
        <p:txBody>
          <a:bodyPr/>
          <a:lstStyle/>
          <a:p>
            <a:pPr algn="r"/>
            <a:r>
              <a:rPr lang="ru-RU" dirty="0"/>
              <a:t>Подготовили студенты ИБ-31</a:t>
            </a:r>
            <a:br>
              <a:rPr lang="ru-RU" dirty="0"/>
            </a:br>
            <a:r>
              <a:rPr lang="ru-RU" dirty="0" err="1"/>
              <a:t>Бройдо</a:t>
            </a:r>
            <a:r>
              <a:rPr lang="ru-RU" dirty="0"/>
              <a:t> Глеб, </a:t>
            </a:r>
            <a:r>
              <a:rPr lang="ru-RU" dirty="0" err="1"/>
              <a:t>Дежиков</a:t>
            </a:r>
            <a:r>
              <a:rPr lang="ru-RU" dirty="0"/>
              <a:t> Александр,</a:t>
            </a:r>
            <a:br>
              <a:rPr lang="ru-RU" dirty="0"/>
            </a:br>
            <a:r>
              <a:rPr lang="ru-RU" dirty="0"/>
              <a:t>Зыков Егор, Мазуров Юрий, Одинцов Евгений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90" y="241519"/>
            <a:ext cx="4200405" cy="125555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3099653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>
        <p15:prstTrans prst="origami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Общие сведения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Компания-разработчик – НПЦ «</a:t>
            </a:r>
            <a:r>
              <a:rPr lang="ru-RU" dirty="0" err="1"/>
              <a:t>БизнесАвтоматика</a:t>
            </a:r>
            <a:r>
              <a:rPr lang="ru-RU" dirty="0"/>
              <a:t>»</a:t>
            </a:r>
          </a:p>
          <a:p>
            <a:endParaRPr lang="ru-RU" dirty="0"/>
          </a:p>
          <a:p>
            <a:r>
              <a:rPr lang="ru-RU" dirty="0"/>
              <a:t>Российская система по управлению проектной деятельностью для комплексного администрирования работ в рамках портфелей проектов и отдельных задач с возможностью планирования и оценки ресурсного потенциала.</a:t>
            </a:r>
          </a:p>
        </p:txBody>
      </p:sp>
    </p:spTree>
    <p:extLst>
      <p:ext uri="{BB962C8B-B14F-4D97-AF65-F5344CB8AC3E}">
        <p14:creationId xmlns:p14="http://schemas.microsoft.com/office/powerpoint/2010/main" val="30099045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>
        <p15:prstTrans prst="origami" invX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Основной функционал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3825" y="2040417"/>
            <a:ext cx="6839077" cy="4351338"/>
          </a:xfrm>
        </p:spPr>
        <p:txBody>
          <a:bodyPr/>
          <a:lstStyle/>
          <a:p>
            <a:pPr lvl="0"/>
            <a:r>
              <a:rPr lang="ru-RU" dirty="0"/>
              <a:t>Управление программами и портфелями проектов; </a:t>
            </a:r>
          </a:p>
          <a:p>
            <a:pPr lvl="0"/>
            <a:r>
              <a:rPr lang="ru-RU" dirty="0"/>
              <a:t>Сетевое и календарное планирование работ; </a:t>
            </a:r>
          </a:p>
          <a:p>
            <a:pPr lvl="0"/>
            <a:r>
              <a:rPr lang="ru-RU" dirty="0"/>
              <a:t>Использование линейных диаграмм взаимосвязи работ; </a:t>
            </a:r>
          </a:p>
          <a:p>
            <a:pPr lvl="0"/>
            <a:r>
              <a:rPr lang="ru-RU" dirty="0"/>
              <a:t>Построение многоуровневой сложноподчинённой иерархии проектов; 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6903100" y="1634860"/>
            <a:ext cx="5061834" cy="442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6036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>
        <p15:prstTrans prst="origami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Основной функционал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9277" y="1690688"/>
            <a:ext cx="5986047" cy="4351338"/>
          </a:xfrm>
        </p:spPr>
        <p:txBody>
          <a:bodyPr/>
          <a:lstStyle/>
          <a:p>
            <a:pPr lvl="0"/>
            <a:r>
              <a:rPr lang="ru-RU" dirty="0"/>
              <a:t>Создание ролевых политик в рамках управления проектной деятельностью; </a:t>
            </a:r>
          </a:p>
          <a:p>
            <a:pPr lvl="0"/>
            <a:r>
              <a:rPr lang="ru-RU" dirty="0"/>
              <a:t>Автоматизация процессов ресурсного и финансового планирования и контроля; </a:t>
            </a:r>
          </a:p>
          <a:p>
            <a:pPr lvl="0"/>
            <a:r>
              <a:rPr lang="ru-RU" dirty="0"/>
              <a:t>Наличие инструментов систематизации, контроля и предотвращения рисков; </a:t>
            </a:r>
          </a:p>
          <a:p>
            <a:pPr lvl="0"/>
            <a:r>
              <a:rPr lang="ru-RU" dirty="0"/>
              <a:t>Реализация проектов в </a:t>
            </a:r>
            <a:r>
              <a:rPr lang="ru-RU" dirty="0" err="1"/>
              <a:t>Kanban</a:t>
            </a:r>
            <a:r>
              <a:rPr lang="ru-RU" dirty="0"/>
              <a:t>; 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6251575" y="1690688"/>
            <a:ext cx="5940425" cy="433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4227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>
        <p15:prstTrans prst="origami" invX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Основной функционал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Создание проектного «конвейера» с использованием </a:t>
            </a:r>
            <a:r>
              <a:rPr lang="ru-RU" dirty="0" err="1"/>
              <a:t>WorkFlow</a:t>
            </a:r>
            <a:r>
              <a:rPr lang="ru-RU" dirty="0"/>
              <a:t>; </a:t>
            </a:r>
          </a:p>
          <a:p>
            <a:pPr lvl="0"/>
            <a:r>
              <a:rPr lang="ru-RU" dirty="0"/>
              <a:t>Возможность интеграции с внешними информационными системами (в том числе СЭД); </a:t>
            </a:r>
          </a:p>
          <a:p>
            <a:pPr lvl="0"/>
            <a:r>
              <a:rPr lang="ru-RU" dirty="0"/>
              <a:t>Отправка уведомлений о статусе проекта; </a:t>
            </a:r>
          </a:p>
          <a:p>
            <a:pPr lvl="0"/>
            <a:r>
              <a:rPr lang="ru-RU" dirty="0"/>
              <a:t>Встроенный конструктор отчетности, большой выбор интерактивных </a:t>
            </a:r>
            <a:r>
              <a:rPr lang="ru-RU" dirty="0" err="1"/>
              <a:t>дашбордов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617976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>
        <p15:prstTrans prst="origami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6251575" y="-26988"/>
            <a:ext cx="5940425" cy="2903855"/>
          </a:xfrm>
          <a:prstGeom prst="roundRect">
            <a:avLst/>
          </a:prstGeom>
        </p:spPr>
      </p:pic>
      <p:pic>
        <p:nvPicPr>
          <p:cNvPr id="6" name="Рисунок 5" descr="https://www.tadviser.ru/images/0/0b/%D0%9A%D0%B0%D0%BB%D0%B5%D0%BD%D0%B4%D0%B0%D1%80%D1%8C_%D0%BF%D1%80%D0%BE%D0%B5%D0%BA%D1%82%D0%B0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3122" y="1742229"/>
            <a:ext cx="5940425" cy="3084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 descr="https://www.tadviser.ru/images/d/d0/%D0%93%D0%B8%D0%B1%D0%BA%D0%B0%D1%8F_%D0%BD%D0%B0%D1%81%D1%82%D1%80%D0%BE%D0%B9%D0%BA%D0%B0_%D1%80%D0%BE%D0%BB%D0%B5%D0%B2%D0%BE%D0%B9_%D0%BF%D0%BE%D0%BB%D0%B8%D1%82%D0%B8%D0%BA%D0%B8.p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27" y="3781321"/>
            <a:ext cx="5940425" cy="32213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69678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>
        <p15:prstTrans prst="origami" invX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6224" y="365125"/>
            <a:ext cx="1162050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Интеграции с другими системами и сервисами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067" y="2070418"/>
            <a:ext cx="5750665" cy="383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469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>
        <p15:prstTrans prst="origami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Ценовая политика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614" y="1941212"/>
            <a:ext cx="9489438" cy="423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6291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>
        <p15:prstTrans prst="origami" invX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160</Words>
  <Application>Microsoft Office PowerPoint</Application>
  <PresentationFormat>Широкоэкранный</PresentationFormat>
  <Paragraphs>23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Tahoma</vt:lpstr>
      <vt:lpstr>Office Theme</vt:lpstr>
      <vt:lpstr>Visary Project</vt:lpstr>
      <vt:lpstr>Общие сведения</vt:lpstr>
      <vt:lpstr>Основной функционал</vt:lpstr>
      <vt:lpstr>Основной функционал</vt:lpstr>
      <vt:lpstr>Основной функционал</vt:lpstr>
      <vt:lpstr>Презентация PowerPoint</vt:lpstr>
      <vt:lpstr>Интеграции с другими системами и сервисами</vt:lpstr>
      <vt:lpstr>Ценовая политика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Visary Project</dc:title>
  <dc:creator>Zykov Egor</dc:creator>
  <cp:lastModifiedBy>Gleb Broydo</cp:lastModifiedBy>
  <cp:revision>4</cp:revision>
  <dcterms:created xsi:type="dcterms:W3CDTF">2025-11-05T11:42:33Z</dcterms:created>
  <dcterms:modified xsi:type="dcterms:W3CDTF">2025-11-05T12:32:30Z</dcterms:modified>
</cp:coreProperties>
</file>