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347" r:id="rId2"/>
    <p:sldId id="405" r:id="rId3"/>
    <p:sldId id="421" r:id="rId4"/>
    <p:sldId id="427" r:id="rId5"/>
    <p:sldId id="434" r:id="rId6"/>
    <p:sldId id="435" r:id="rId7"/>
    <p:sldId id="436" r:id="rId8"/>
    <p:sldId id="437" r:id="rId9"/>
    <p:sldId id="438" r:id="rId10"/>
    <p:sldId id="439" r:id="rId11"/>
    <p:sldId id="440" r:id="rId12"/>
    <p:sldId id="441" r:id="rId13"/>
    <p:sldId id="424" r:id="rId14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5D6"/>
    <a:srgbClr val="13B6C9"/>
    <a:srgbClr val="009900"/>
    <a:srgbClr val="006600"/>
    <a:srgbClr val="003300"/>
    <a:srgbClr val="008000"/>
    <a:srgbClr val="FFFFCC"/>
    <a:srgbClr val="1165D7"/>
    <a:srgbClr val="0000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19" autoAdjust="0"/>
    <p:restoredTop sz="95935" autoAdjust="0"/>
  </p:normalViewPr>
  <p:slideViewPr>
    <p:cSldViewPr>
      <p:cViewPr varScale="1">
        <p:scale>
          <a:sx n="81" d="100"/>
          <a:sy n="81" d="100"/>
        </p:scale>
        <p:origin x="149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/>
          <a:lstStyle>
            <a:lvl1pPr algn="r">
              <a:defRPr sz="1200"/>
            </a:lvl1pPr>
          </a:lstStyle>
          <a:p>
            <a:fld id="{84691660-2B87-4785-BBE2-D3DA7F4C5718}" type="datetimeFigureOut">
              <a:rPr lang="ru-RU" smtClean="0"/>
              <a:pPr/>
              <a:t>12.12.2025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19" rIns="91440" bIns="45719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19" rIns="91440" bIns="45719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 anchor="b"/>
          <a:lstStyle>
            <a:lvl1pPr algn="r">
              <a:defRPr sz="1200"/>
            </a:lvl1pPr>
          </a:lstStyle>
          <a:p>
            <a:fld id="{036826E7-A0C7-4510-A0B6-27F4CE0019E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85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6826E7-A0C7-4510-A0B6-27F4CE0019E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95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44C-C13B-4264-9F37-EC7069CF57EA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BDDA9-2C36-4F24-BFB3-BA0D5CDF0176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E9DC-617A-47F1-990A-F437B91F5905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8A0F-6347-4B2B-9E42-436D6435B2C8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601E-CA78-4C60-AC8C-1B32D44D4A2E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91DD-BA31-411F-94D4-53208A1E9F97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B0FA-D7D2-48C8-892D-85F3E80DC46B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C2D1-A719-4BB0-B37D-3B4AC04BC1B1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DA09-9741-4533-9A03-8A4852FDE1A7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D632-7148-42E1-B8D7-3471CA8D5617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67FAE-7070-4A48-A942-5428AAC87B8D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AB454-8131-4FF2-B85C-C15BA51DBB24}" type="datetime1">
              <a:rPr lang="ru-RU" smtClean="0"/>
              <a:pPr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4E7C9-E68A-48FC-80A3-273CCB99852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9C0C33-4904-477C-8CEC-AA1318749D59}"/>
              </a:ext>
            </a:extLst>
          </p:cNvPr>
          <p:cNvSpPr/>
          <p:nvPr/>
        </p:nvSpPr>
        <p:spPr>
          <a:xfrm>
            <a:off x="395536" y="1124744"/>
            <a:ext cx="8640960" cy="864096"/>
          </a:xfrm>
          <a:prstGeom prst="rect">
            <a:avLst/>
          </a:prstGeom>
          <a:solidFill>
            <a:srgbClr val="116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916832"/>
            <a:ext cx="6048672" cy="1512168"/>
          </a:xfrm>
          <a:prstGeom prst="rect">
            <a:avLst/>
          </a:prstGeom>
          <a:solidFill>
            <a:srgbClr val="116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6211669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altLang="ru-RU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728052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Защита Курсовой Работы по дисциплине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«Методы и средства криптографической защиты информации»</a:t>
            </a:r>
          </a:p>
          <a:p>
            <a:pPr algn="ctr"/>
            <a:endParaRPr lang="ru-RU" sz="28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algn="ctr"/>
            <a:endParaRPr lang="ru-RU" sz="28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ru-RU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ТЕМА: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«Сравнительный анализ шифров гаммирования»</a:t>
            </a:r>
          </a:p>
          <a:p>
            <a:pPr algn="ctr"/>
            <a:endParaRPr lang="ru-RU" altLang="ru-RU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892871F-3953-5843-88A1-9A355848E80F}"/>
              </a:ext>
            </a:extLst>
          </p:cNvPr>
          <p:cNvSpPr/>
          <p:nvPr/>
        </p:nvSpPr>
        <p:spPr>
          <a:xfrm>
            <a:off x="186586" y="5928898"/>
            <a:ext cx="9144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Студент гр. ИБ-31</a:t>
            </a:r>
          </a:p>
          <a:p>
            <a:r>
              <a:rPr lang="ru-RU" altLang="ru-RU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Бройдо Глеб Дмитриевич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315F8A-CFF0-40DA-8BFE-EBC7498B3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10" y="0"/>
            <a:ext cx="9144000" cy="14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0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10081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Цель и задачи доклада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2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94A5A6-ED8C-8646-B0DE-B19D48C4C6F5}"/>
              </a:ext>
            </a:extLst>
          </p:cNvPr>
          <p:cNvSpPr/>
          <p:nvPr/>
        </p:nvSpPr>
        <p:spPr>
          <a:xfrm>
            <a:off x="395536" y="1650280"/>
            <a:ext cx="839130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Цель работы: </a:t>
            </a:r>
            <a:r>
              <a:rPr lang="ru-RU" sz="2400" dirty="0"/>
              <a:t>Проанализировать три шифра гаммирования</a:t>
            </a:r>
            <a:endParaRPr lang="ru-RU" sz="2000" dirty="0">
              <a:solidFill>
                <a:srgbClr val="FF0000"/>
              </a:solidFill>
            </a:endParaRPr>
          </a:p>
          <a:p>
            <a:endParaRPr lang="ru-RU" sz="2400" dirty="0"/>
          </a:p>
          <a:p>
            <a:r>
              <a:rPr lang="ru-RU" sz="2400" b="1" dirty="0"/>
              <a:t>Задачи работы:</a:t>
            </a:r>
          </a:p>
          <a:p>
            <a:pPr marL="342900" indent="-342900">
              <a:buFont typeface="Arial" panose="020B0604020202020204" pitchFamily="34" charset="0"/>
              <a:buChar char="−"/>
            </a:pPr>
            <a:r>
              <a:rPr lang="ru-RU" sz="2400" dirty="0"/>
              <a:t>Провести сравнительный анализ выбранных шифров на основе полученных шифротекстов</a:t>
            </a:r>
          </a:p>
          <a:p>
            <a:pPr marL="342900" indent="-342900">
              <a:buFont typeface="Arial" panose="020B0604020202020204" pitchFamily="34" charset="0"/>
              <a:buChar char="−"/>
            </a:pPr>
            <a:r>
              <a:rPr lang="ru-RU" sz="2400" dirty="0"/>
              <a:t>Указать на криптостойкость выбранных шифров</a:t>
            </a:r>
          </a:p>
          <a:p>
            <a:pPr marL="342900" indent="-342900">
              <a:buFont typeface="Arial" panose="020B0604020202020204" pitchFamily="34" charset="0"/>
              <a:buChar char="−"/>
            </a:pPr>
            <a:r>
              <a:rPr lang="ru-RU" sz="2400" dirty="0"/>
              <a:t>Сравнить выбранные шифры по удобству использования</a:t>
            </a:r>
          </a:p>
          <a:p>
            <a:pPr marL="342900" indent="-342900">
              <a:buFont typeface="Arial" panose="020B0604020202020204" pitchFamily="34" charset="0"/>
              <a:buChar char="−"/>
            </a:pPr>
            <a:r>
              <a:rPr lang="ru-RU" sz="2400" dirty="0"/>
              <a:t>Показать результаты работы разработанного ПО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89" y="804290"/>
            <a:ext cx="9144000" cy="64194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dirty="0"/>
              <a:t>Шифры гаммирования </a:t>
            </a:r>
            <a:endParaRPr lang="ru-RU" sz="3300" b="1" spc="-1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3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94A5A6-ED8C-8646-B0DE-B19D48C4C6F5}"/>
              </a:ext>
            </a:extLst>
          </p:cNvPr>
          <p:cNvSpPr/>
          <p:nvPr/>
        </p:nvSpPr>
        <p:spPr>
          <a:xfrm>
            <a:off x="323528" y="2214677"/>
            <a:ext cx="44177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Шифры гаммирования </a:t>
            </a:r>
            <a:r>
              <a:rPr lang="ru-RU" dirty="0"/>
              <a:t>размещаются в отдельном блоке в классификационной схеме шифров.</a:t>
            </a:r>
            <a:endParaRPr lang="en-001" dirty="0"/>
          </a:p>
          <a:p>
            <a:r>
              <a:rPr lang="ru-RU" dirty="0"/>
              <a:t> </a:t>
            </a:r>
            <a:endParaRPr lang="en-001" dirty="0"/>
          </a:p>
          <a:p>
            <a:r>
              <a:rPr lang="ru-RU" dirty="0"/>
              <a:t>Процесс преобразования данных выполняется посимвольно или </a:t>
            </a:r>
            <a:r>
              <a:rPr lang="ru-RU" dirty="0" err="1"/>
              <a:t>побитово</a:t>
            </a:r>
            <a:r>
              <a:rPr lang="ru-RU" dirty="0"/>
              <a:t> (сложение по модулю 2 или другому модулю), с использованием шифрующей последовательности (гаммы) — последовательности случайных или псевдослучайных символов.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7AFED8-730A-290A-177B-BE714D2DD7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2" b="16910"/>
          <a:stretch>
            <a:fillRect/>
          </a:stretch>
        </p:blipFill>
        <p:spPr bwMode="auto">
          <a:xfrm>
            <a:off x="4879758" y="1620327"/>
            <a:ext cx="4302125" cy="46050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443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11521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Сравнительный анализ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4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4F2ED4-4F3E-40C8-8436-F2D331444CE5}"/>
              </a:ext>
            </a:extLst>
          </p:cNvPr>
          <p:cNvSpPr txBox="1"/>
          <p:nvPr/>
        </p:nvSpPr>
        <p:spPr>
          <a:xfrm>
            <a:off x="348374" y="1901263"/>
            <a:ext cx="84384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	Для проведения сравнительного анализа полученных шифротекстов были построены гистограммы встречаемости букв, биграмм и триграмм.</a:t>
            </a:r>
          </a:p>
          <a:p>
            <a:r>
              <a:rPr lang="ru-RU" sz="2000" dirty="0"/>
              <a:t>	После этого был проведен анализ полученных гистограмм с указанием на относительный уровень криптостойкости каждого из шифров.</a:t>
            </a:r>
          </a:p>
          <a:p>
            <a:r>
              <a:rPr lang="ru-RU" sz="2000" dirty="0"/>
              <a:t>	</a:t>
            </a:r>
          </a:p>
          <a:p>
            <a:endParaRPr lang="ru-RU" sz="2000" dirty="0"/>
          </a:p>
          <a:p>
            <a:r>
              <a:rPr lang="ru-RU" sz="2000" dirty="0"/>
              <a:t>	Рассмотрим полученные гистограммы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95686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4C13-99CC-652D-4AA7-283F3C89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7263D-D999-BC8B-743A-0636783C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8152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Гистограммы встречаемости букв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989309-B59F-C915-534F-1EE3C4A2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5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Шрифт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005538-A9B6-8127-2CF3-B6D9F38593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2"/>
          <a:stretch>
            <a:fillRect/>
          </a:stretch>
        </p:blipFill>
        <p:spPr bwMode="auto">
          <a:xfrm>
            <a:off x="0" y="1556792"/>
            <a:ext cx="4572000" cy="15312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 descr="Изображение выглядит как текст, Шрифт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42A1B1-98B7-F58E-3943-56AF6850A0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36"/>
          <a:stretch>
            <a:fillRect/>
          </a:stretch>
        </p:blipFill>
        <p:spPr bwMode="auto">
          <a:xfrm>
            <a:off x="0" y="3140968"/>
            <a:ext cx="4572000" cy="15421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 descr="Изображение выглядит как текст, Шрифт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891628-CD1C-0B5F-0224-17D677E9B4B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31039" y="4831080"/>
            <a:ext cx="4555490" cy="15252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 descr="Изображение выглядит как текст, Шрифт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9BF660-A4E6-539E-8128-AD6DBB553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4"/>
          <a:stretch>
            <a:fillRect/>
          </a:stretch>
        </p:blipFill>
        <p:spPr bwMode="auto">
          <a:xfrm>
            <a:off x="4572000" y="1655838"/>
            <a:ext cx="4601058" cy="15466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 descr="Изображение выглядит как текст, Шрифт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CA3BBA-AD5B-1C20-EBF8-0FAA702BC73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4"/>
          <a:stretch>
            <a:fillRect/>
          </a:stretch>
        </p:blipFill>
        <p:spPr bwMode="auto">
          <a:xfrm>
            <a:off x="4557469" y="3214821"/>
            <a:ext cx="4601059" cy="15467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 descr="Изображение выглядит как текст, Шрифт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EDD693-11C3-7F24-ED93-6A96C96B14F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4"/>
          <a:stretch>
            <a:fillRect/>
          </a:stretch>
        </p:blipFill>
        <p:spPr bwMode="auto">
          <a:xfrm>
            <a:off x="4572000" y="4809615"/>
            <a:ext cx="4600838" cy="15467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6688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71ED-6ECC-25D7-F62B-7433CB2B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2D5A7-47D5-6FA4-1443-9A093E579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8152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Гистограммы встречаемости биграмм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D1D736-0AB0-35E5-C7DB-33425810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6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снимок экрана, линия, Паралле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4B1151-E716-F657-CB86-AFEC64847D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77"/>
          <a:stretch>
            <a:fillRect/>
          </a:stretch>
        </p:blipFill>
        <p:spPr bwMode="auto">
          <a:xfrm>
            <a:off x="0" y="1388695"/>
            <a:ext cx="3024427" cy="25083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Рисунок 10" descr="Изображение выглядит как снимок экрана, линия, Параллельный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A9E21B-7B09-346C-63C0-88FA18D74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9"/>
          <a:stretch>
            <a:fillRect/>
          </a:stretch>
        </p:blipFill>
        <p:spPr bwMode="auto">
          <a:xfrm>
            <a:off x="3167420" y="1370099"/>
            <a:ext cx="2916748" cy="252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Изображение выглядит как снимок экрана, линия, Параллельный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3A567D-7022-FDEB-DC34-6304B5EB18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2"/>
          <a:stretch>
            <a:fillRect/>
          </a:stretch>
        </p:blipFill>
        <p:spPr bwMode="auto">
          <a:xfrm>
            <a:off x="6163018" y="1405512"/>
            <a:ext cx="2916749" cy="2501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63D93CF-302C-D253-2D43-30F16BCD25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9"/>
          <a:stretch>
            <a:fillRect/>
          </a:stretch>
        </p:blipFill>
        <p:spPr bwMode="auto">
          <a:xfrm>
            <a:off x="107677" y="4153551"/>
            <a:ext cx="3024426" cy="256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 descr="Изображение выглядит как снимок экрана, линия, Параллельный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05A98F-A378-958E-D26A-97ED944612C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8"/>
          <a:stretch>
            <a:fillRect/>
          </a:stretch>
        </p:blipFill>
        <p:spPr bwMode="auto">
          <a:xfrm>
            <a:off x="3206740" y="4121565"/>
            <a:ext cx="2910144" cy="252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 descr="Изображение выглядит как снимок экрана, линия, Паралле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5E8FCE-01D3-5FD5-F4BD-57C226C64C7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2"/>
          <a:stretch>
            <a:fillRect/>
          </a:stretch>
        </p:blipFill>
        <p:spPr bwMode="auto">
          <a:xfrm>
            <a:off x="6116884" y="4077072"/>
            <a:ext cx="3024427" cy="2590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524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CC4B-2712-AC7C-6A92-70EB2C11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28DFD-04A2-873A-93DA-616B74D8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8152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Гистограммы встречаемости триграмм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35342F-76B4-9044-BE49-398E4D11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7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9849D5-5E4F-D21F-0DC5-885BD3FD56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74"/>
          <a:stretch>
            <a:fillRect/>
          </a:stretch>
        </p:blipFill>
        <p:spPr bwMode="auto">
          <a:xfrm>
            <a:off x="37539" y="1340769"/>
            <a:ext cx="3169202" cy="26598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 descr="Изображение выглядит как диаграмма, линия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02CF64-D3B1-619D-CAD6-C57281F93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7"/>
          <a:stretch>
            <a:fillRect/>
          </a:stretch>
        </p:blipFill>
        <p:spPr bwMode="auto">
          <a:xfrm>
            <a:off x="3203848" y="1386001"/>
            <a:ext cx="2988057" cy="2590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BA7300-2D78-26C5-863E-17EAF930F3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7"/>
          <a:stretch>
            <a:fillRect/>
          </a:stretch>
        </p:blipFill>
        <p:spPr bwMode="auto">
          <a:xfrm>
            <a:off x="6193482" y="1386001"/>
            <a:ext cx="2988057" cy="2590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Изображение выглядит как снимок экрана, линия, Граф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528FDB-9FA7-7597-03D8-4CE1185A2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92108" y="4058390"/>
            <a:ext cx="3007550" cy="254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Изображение выглядит как линия, снимок экрана, Паралле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0CABF2-95E7-0AC2-666A-151BCF5AF4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3167844" y="4058389"/>
            <a:ext cx="2988058" cy="2529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Изображение выглядит как текст, снимок экрана, линия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207E73-F39B-FD3A-AFA9-78A0AD6A581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6133125" y="4074887"/>
            <a:ext cx="2988059" cy="25292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3403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CA7B8-CE05-4494-6EC7-B06D2EDB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407F496-AB08-B7AD-9924-15F62CE9F46D}"/>
              </a:ext>
            </a:extLst>
          </p:cNvPr>
          <p:cNvSpPr/>
          <p:nvPr/>
        </p:nvSpPr>
        <p:spPr>
          <a:xfrm>
            <a:off x="323528" y="4005064"/>
            <a:ext cx="8352928" cy="1656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01B9C6-D52E-6353-38B0-B5106C20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11521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Криптоанализ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4CDD31-1F40-B95C-3CAE-45B0A13D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8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05DBF5-5ADB-5B51-3FA5-57F756C12003}"/>
              </a:ext>
            </a:extLst>
          </p:cNvPr>
          <p:cNvSpPr txBox="1"/>
          <p:nvPr/>
        </p:nvSpPr>
        <p:spPr>
          <a:xfrm>
            <a:off x="348374" y="1901263"/>
            <a:ext cx="843846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Если соблюдать все условия, указанные в главе 1 курсовой работы, касающиеся криптографической стойкости шифра </a:t>
            </a:r>
            <a:r>
              <a:rPr lang="ru-RU" sz="2000" dirty="0" err="1"/>
              <a:t>Вернама</a:t>
            </a:r>
            <a:r>
              <a:rPr lang="ru-RU" sz="2000" dirty="0"/>
              <a:t> и шифра Шеннон, которые перечислил Клод Шеннон, то эти шифры становятся практически </a:t>
            </a:r>
            <a:r>
              <a:rPr lang="ru-RU" sz="2000" dirty="0" err="1"/>
              <a:t>невзламываемыми</a:t>
            </a:r>
            <a:r>
              <a:rPr lang="ru-RU" sz="2000" dirty="0"/>
              <a:t>. Однако на то они и условия, что их несоблюдение ведет к появлению уязвимостей. 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dirty="0">
                <a:solidFill>
                  <a:schemeClr val="bg1"/>
                </a:solidFill>
              </a:rPr>
              <a:t>С</a:t>
            </a:r>
            <a:r>
              <a:rPr lang="ru-RU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⊕С</a:t>
            </a:r>
            <a:r>
              <a:rPr lang="ru-RU" baseline="-25000" dirty="0">
                <a:solidFill>
                  <a:schemeClr val="bg1"/>
                </a:solidFill>
              </a:rPr>
              <a:t>2</a:t>
            </a:r>
            <a:r>
              <a:rPr lang="ru-RU" dirty="0">
                <a:solidFill>
                  <a:schemeClr val="bg1"/>
                </a:solidFill>
              </a:rPr>
              <a:t>=(</a:t>
            </a:r>
            <a:r>
              <a:rPr lang="en-001" dirty="0">
                <a:solidFill>
                  <a:schemeClr val="bg1"/>
                </a:solidFill>
              </a:rPr>
              <a:t>M</a:t>
            </a:r>
            <a:r>
              <a:rPr lang="en-001" baseline="-25000" dirty="0">
                <a:solidFill>
                  <a:schemeClr val="bg1"/>
                </a:solidFill>
              </a:rPr>
              <a:t>1</a:t>
            </a:r>
            <a:r>
              <a:rPr lang="en-001" dirty="0">
                <a:solidFill>
                  <a:schemeClr val="bg1"/>
                </a:solidFill>
              </a:rPr>
              <a:t>⊕G)⊕(M</a:t>
            </a:r>
            <a:r>
              <a:rPr lang="en-001" baseline="-25000" dirty="0">
                <a:solidFill>
                  <a:schemeClr val="bg1"/>
                </a:solidFill>
              </a:rPr>
              <a:t>2</a:t>
            </a:r>
            <a:r>
              <a:rPr lang="en-001" dirty="0">
                <a:solidFill>
                  <a:schemeClr val="bg1"/>
                </a:solidFill>
              </a:rPr>
              <a:t>⊕G)=M</a:t>
            </a:r>
            <a:r>
              <a:rPr lang="en-001" baseline="-25000" dirty="0">
                <a:solidFill>
                  <a:schemeClr val="bg1"/>
                </a:solidFill>
              </a:rPr>
              <a:t>1</a:t>
            </a:r>
            <a:r>
              <a:rPr lang="en-001" dirty="0">
                <a:solidFill>
                  <a:schemeClr val="bg1"/>
                </a:solidFill>
              </a:rPr>
              <a:t>⊕M</a:t>
            </a:r>
            <a:r>
              <a:rPr lang="en-001" baseline="-25000" dirty="0">
                <a:solidFill>
                  <a:schemeClr val="bg1"/>
                </a:solidFill>
              </a:rPr>
              <a:t>2</a:t>
            </a:r>
            <a:endParaRPr lang="ru-RU" sz="2000" baseline="-25000" dirty="0">
              <a:solidFill>
                <a:schemeClr val="bg1"/>
              </a:solidFill>
            </a:endParaRPr>
          </a:p>
          <a:p>
            <a:endParaRPr lang="en-001" sz="2000" dirty="0">
              <a:solidFill>
                <a:schemeClr val="bg1"/>
              </a:solidFill>
            </a:endParaRPr>
          </a:p>
          <a:p>
            <a:r>
              <a:rPr lang="en-001" sz="2000" dirty="0">
                <a:solidFill>
                  <a:schemeClr val="bg1"/>
                </a:solidFill>
              </a:rPr>
              <a:t>{</a:t>
            </a:r>
            <a:r>
              <a:rPr lang="ru-RU" sz="2000" dirty="0">
                <a:solidFill>
                  <a:schemeClr val="bg1"/>
                </a:solidFill>
              </a:rPr>
              <a:t>Б⊕</a:t>
            </a:r>
            <a:r>
              <a:rPr lang="en-001" sz="2000" dirty="0">
                <a:solidFill>
                  <a:schemeClr val="bg1"/>
                </a:solidFill>
              </a:rPr>
              <a:t>G</a:t>
            </a:r>
            <a:r>
              <a:rPr lang="en-001" sz="2000" baseline="-25000" dirty="0">
                <a:solidFill>
                  <a:schemeClr val="bg1"/>
                </a:solidFill>
              </a:rPr>
              <a:t>i</a:t>
            </a:r>
            <a:r>
              <a:rPr lang="en-001" sz="2000" dirty="0">
                <a:solidFill>
                  <a:schemeClr val="bg1"/>
                </a:solidFill>
              </a:rPr>
              <a:t>    = </a:t>
            </a:r>
            <a:r>
              <a:rPr lang="ru-RU" sz="2000" dirty="0">
                <a:solidFill>
                  <a:schemeClr val="bg1"/>
                </a:solidFill>
              </a:rPr>
              <a:t>Г</a:t>
            </a:r>
            <a:r>
              <a:rPr lang="en-001" sz="2000" dirty="0">
                <a:solidFill>
                  <a:schemeClr val="bg1"/>
                </a:solidFill>
              </a:rPr>
              <a:t>   } =&gt; </a:t>
            </a:r>
            <a:r>
              <a:rPr lang="ru-RU" sz="2000" dirty="0">
                <a:solidFill>
                  <a:schemeClr val="bg1"/>
                </a:solidFill>
              </a:rPr>
              <a:t>Если знаем, что в исходном тексте была буква Б,</a:t>
            </a:r>
          </a:p>
          <a:p>
            <a:r>
              <a:rPr lang="en-001" sz="2000" dirty="0">
                <a:solidFill>
                  <a:schemeClr val="bg1"/>
                </a:solidFill>
              </a:rPr>
              <a:t>{</a:t>
            </a:r>
            <a:r>
              <a:rPr lang="ru-RU" sz="2000" dirty="0">
                <a:solidFill>
                  <a:schemeClr val="bg1"/>
                </a:solidFill>
              </a:rPr>
              <a:t>К⊕</a:t>
            </a:r>
            <a:r>
              <a:rPr lang="en-001" sz="2000" dirty="0">
                <a:solidFill>
                  <a:schemeClr val="bg1"/>
                </a:solidFill>
              </a:rPr>
              <a:t>G</a:t>
            </a:r>
            <a:r>
              <a:rPr lang="en-001" sz="2000" baseline="-25000" dirty="0">
                <a:solidFill>
                  <a:schemeClr val="bg1"/>
                </a:solidFill>
              </a:rPr>
              <a:t>i</a:t>
            </a:r>
            <a:r>
              <a:rPr lang="ru-RU" sz="2000" baseline="-25000" dirty="0">
                <a:solidFill>
                  <a:schemeClr val="bg1"/>
                </a:solidFill>
              </a:rPr>
              <a:t>+</a:t>
            </a:r>
            <a:r>
              <a:rPr lang="en-001" sz="2000" baseline="-25000" dirty="0">
                <a:solidFill>
                  <a:schemeClr val="bg1"/>
                </a:solidFill>
              </a:rPr>
              <a:t>T</a:t>
            </a:r>
            <a:r>
              <a:rPr lang="en-001" sz="2000" dirty="0">
                <a:solidFill>
                  <a:schemeClr val="bg1"/>
                </a:solidFill>
              </a:rPr>
              <a:t> = </a:t>
            </a:r>
            <a:r>
              <a:rPr lang="ru-RU" sz="2000" dirty="0">
                <a:solidFill>
                  <a:schemeClr val="bg1"/>
                </a:solidFill>
              </a:rPr>
              <a:t>М </a:t>
            </a:r>
            <a:r>
              <a:rPr lang="en-001" sz="2000" dirty="0">
                <a:solidFill>
                  <a:schemeClr val="bg1"/>
                </a:solidFill>
              </a:rPr>
              <a:t>}</a:t>
            </a:r>
            <a:r>
              <a:rPr lang="ru-RU" sz="2000" dirty="0">
                <a:solidFill>
                  <a:schemeClr val="bg1"/>
                </a:solidFill>
              </a:rPr>
              <a:t>       то с легкостью можно найти Гамму на </a:t>
            </a:r>
            <a:r>
              <a:rPr lang="en-001" sz="2000" dirty="0" err="1">
                <a:solidFill>
                  <a:schemeClr val="bg1"/>
                </a:solidFill>
              </a:rPr>
              <a:t>i</a:t>
            </a:r>
            <a:r>
              <a:rPr lang="en-001" sz="2000" dirty="0">
                <a:solidFill>
                  <a:schemeClr val="bg1"/>
                </a:solidFill>
              </a:rPr>
              <a:t>-</a:t>
            </a:r>
            <a:r>
              <a:rPr lang="ru-RU" sz="2000" dirty="0">
                <a:solidFill>
                  <a:schemeClr val="bg1"/>
                </a:solidFill>
              </a:rPr>
              <a:t>ой позиции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Что позволит вычислить букву на </a:t>
            </a:r>
            <a:r>
              <a:rPr lang="en-001" sz="2000" dirty="0" err="1">
                <a:solidFill>
                  <a:schemeClr val="bg1"/>
                </a:solidFill>
              </a:rPr>
              <a:t>i+T</a:t>
            </a:r>
            <a:r>
              <a:rPr lang="en-001" sz="2000" dirty="0">
                <a:solidFill>
                  <a:schemeClr val="bg1"/>
                </a:solidFill>
              </a:rPr>
              <a:t>-</a:t>
            </a:r>
            <a:r>
              <a:rPr lang="ru-RU" sz="2000" dirty="0">
                <a:solidFill>
                  <a:schemeClr val="bg1"/>
                </a:solidFill>
              </a:rPr>
              <a:t>ой позиции.</a:t>
            </a:r>
          </a:p>
        </p:txBody>
      </p:sp>
    </p:spTree>
    <p:extLst>
      <p:ext uri="{BB962C8B-B14F-4D97-AF65-F5344CB8AC3E}">
        <p14:creationId xmlns:p14="http://schemas.microsoft.com/office/powerpoint/2010/main" val="1596061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2BB3-15D4-2522-E9CD-1A60B3AB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91C47-21B3-64DD-0CCA-D921AC182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11521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Криптоанализ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2372D4-36FD-06ED-5B3E-F9DF895D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9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C8C13-5F67-7D3F-E17E-355497CEB320}"/>
              </a:ext>
            </a:extLst>
          </p:cNvPr>
          <p:cNvSpPr txBox="1"/>
          <p:nvPr/>
        </p:nvSpPr>
        <p:spPr>
          <a:xfrm>
            <a:off x="348374" y="1901263"/>
            <a:ext cx="8438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 случае использования ЛКГ в шифре – его параметры можно перебрать методом грубой силы с проверкой текста, получаемого при снятии гаммы.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938FA-99A8-2091-FFCB-F1DC3ABA597F}"/>
              </a:ext>
            </a:extLst>
          </p:cNvPr>
          <p:cNvSpPr txBox="1"/>
          <p:nvPr/>
        </p:nvSpPr>
        <p:spPr>
          <a:xfrm>
            <a:off x="327699" y="3212976"/>
            <a:ext cx="8438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Как уже было замечено – использование одного ключа несколько раз может критически повлиять на возможность дешифрования </a:t>
            </a:r>
            <a:r>
              <a:rPr lang="ru-RU" sz="2000" dirty="0" err="1"/>
              <a:t>шифротекста</a:t>
            </a:r>
            <a:r>
              <a:rPr lang="ru-RU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DEDA0-F815-6ED6-B308-F023D512CE07}"/>
              </a:ext>
            </a:extLst>
          </p:cNvPr>
          <p:cNvSpPr txBox="1"/>
          <p:nvPr/>
        </p:nvSpPr>
        <p:spPr>
          <a:xfrm>
            <a:off x="348374" y="4581127"/>
            <a:ext cx="8438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Соблюдение простого правила: «Один текст – один ключ», позволяет сохранить криптостойкость получаемого </a:t>
            </a:r>
            <a:r>
              <a:rPr lang="ru-RU" sz="2000" dirty="0" err="1"/>
              <a:t>шифртекста</a:t>
            </a:r>
            <a:r>
              <a:rPr lang="ru-RU" sz="2000" dirty="0"/>
              <a:t>, снижая шансы взлома частотным анализом.</a:t>
            </a:r>
          </a:p>
        </p:txBody>
      </p:sp>
    </p:spTree>
    <p:extLst>
      <p:ext uri="{BB962C8B-B14F-4D97-AF65-F5344CB8AC3E}">
        <p14:creationId xmlns:p14="http://schemas.microsoft.com/office/powerpoint/2010/main" val="408167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95C2B-AD27-97AC-12CA-CDB96FE2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F7453-B66D-B75C-64B4-6AECE872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11521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Удобство 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A510CE-20B0-CAF5-6266-E4D00AA5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10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6AB29-69F2-76DD-0214-D018A0664E8D}"/>
              </a:ext>
            </a:extLst>
          </p:cNvPr>
          <p:cNvSpPr txBox="1"/>
          <p:nvPr/>
        </p:nvSpPr>
        <p:spPr>
          <a:xfrm>
            <a:off x="348374" y="1901263"/>
            <a:ext cx="84384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 связи с использованием ключа заданной (конечной) длины – Шифр </a:t>
            </a:r>
            <a:r>
              <a:rPr lang="ru-RU" sz="2000" dirty="0" err="1"/>
              <a:t>Вернама</a:t>
            </a:r>
            <a:r>
              <a:rPr lang="ru-RU" sz="2000" dirty="0"/>
              <a:t> удобен в использовании, однако по криптостойкости – слаб.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0870A-C96A-A3AA-B7CE-58C753FE0AB3}"/>
              </a:ext>
            </a:extLst>
          </p:cNvPr>
          <p:cNvSpPr txBox="1"/>
          <p:nvPr/>
        </p:nvSpPr>
        <p:spPr>
          <a:xfrm>
            <a:off x="327699" y="3172906"/>
            <a:ext cx="84384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 случае использования ЛКГ – подбор правильных параметров может оказаться не таким простым из-за большого количества требований. Как итог – использовать Шифр Шеннона менее удобно, однако он более криптостойкий.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EBB4E-B344-9869-3CF4-BBA57BDFBFB5}"/>
              </a:ext>
            </a:extLst>
          </p:cNvPr>
          <p:cNvSpPr txBox="1"/>
          <p:nvPr/>
        </p:nvSpPr>
        <p:spPr>
          <a:xfrm>
            <a:off x="327699" y="4808763"/>
            <a:ext cx="8438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Для ГОСТ 28147-89 единственной трудностью может быть генерация 64 и 256-ых ключей, однако в связи с развитием ЭВМ это не является проблемой. Среди выбранных шифров – самый криптостойкий.</a:t>
            </a:r>
          </a:p>
        </p:txBody>
      </p:sp>
    </p:spTree>
    <p:extLst>
      <p:ext uri="{BB962C8B-B14F-4D97-AF65-F5344CB8AC3E}">
        <p14:creationId xmlns:p14="http://schemas.microsoft.com/office/powerpoint/2010/main" val="407383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E2C2-29A8-6531-A631-B3845DB9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09C65-E2C4-84C2-B4B2-D4CD7424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5925623" cy="11521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Разработка ПО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25E8B7-5AC7-26B6-0946-0D66C272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11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B58F12-BCBB-8651-C94A-F904E7C28652}"/>
              </a:ext>
            </a:extLst>
          </p:cNvPr>
          <p:cNvSpPr txBox="1"/>
          <p:nvPr/>
        </p:nvSpPr>
        <p:spPr>
          <a:xfrm>
            <a:off x="348375" y="1901263"/>
            <a:ext cx="46556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	Алгоритмы шифров были разработаны на ЯП </a:t>
            </a:r>
            <a:r>
              <a:rPr lang="en-001" sz="2000" dirty="0"/>
              <a:t>Python3</a:t>
            </a:r>
            <a:r>
              <a:rPr lang="ru-RU" sz="2000" dirty="0"/>
              <a:t> на основе блок схем, представленных в Курсовой Работе.</a:t>
            </a:r>
          </a:p>
          <a:p>
            <a:r>
              <a:rPr lang="ru-RU" sz="2000" dirty="0"/>
              <a:t>	Кроме того был написан </a:t>
            </a:r>
            <a:r>
              <a:rPr lang="en-001" sz="2000" dirty="0"/>
              <a:t>GUI</a:t>
            </a:r>
            <a:r>
              <a:rPr lang="ru-RU" sz="2000" dirty="0"/>
              <a:t> для консольного приложения.</a:t>
            </a:r>
          </a:p>
        </p:txBody>
      </p:sp>
      <p:pic>
        <p:nvPicPr>
          <p:cNvPr id="3" name="Рисунок 2" descr="Файл:Python logo and wordmark.svg — Википедия">
            <a:extLst>
              <a:ext uri="{FF2B5EF4-FFF2-40B4-BE49-F238E27FC236}">
                <a16:creationId xmlns:a16="http://schemas.microsoft.com/office/drawing/2014/main" id="{EAF75948-943B-B8B7-74DE-6F6858B9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00" y="5523249"/>
            <a:ext cx="3430208" cy="1015663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D9056D-87EB-A3AA-7632-99B3E5CFC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620688"/>
            <a:ext cx="3218377" cy="623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06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3C5E-E42B-2CE7-1242-3D622173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57C41-86DD-FE3B-DFFF-EDE7944F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9" y="692697"/>
            <a:ext cx="9144000" cy="11521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300" b="1" spc="-100" dirty="0">
                <a:latin typeface="+mn-lt"/>
                <a:cs typeface="Times New Roman" panose="02020603050405020304" pitchFamily="18" charset="0"/>
              </a:rPr>
              <a:t>Результаты ПО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E9F9D5-92A9-4654-21B4-C4F7D7E4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12</a:t>
            </a:fld>
            <a:endParaRPr lang="ru-RU" sz="1400" dirty="0"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AE87CC-AEC5-1174-B3CD-B2DCA5E5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94" y="1643348"/>
            <a:ext cx="4078521" cy="15232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769D8C-9CF1-44C0-6BAE-F9521746D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040" y="1657895"/>
            <a:ext cx="3347864" cy="1494154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C06E32-954B-3441-9274-F7ED17403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357178"/>
            <a:ext cx="3011372" cy="1486818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5BBD9D-51C2-A205-2A3F-DFFBD9C51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94" y="5013176"/>
            <a:ext cx="3840480" cy="165989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700383-8B55-4FFD-D788-AFA828624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415" y="3357179"/>
            <a:ext cx="4135138" cy="208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8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7335" y="2924944"/>
            <a:ext cx="9144000" cy="10081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4800" b="1" spc="-100" dirty="0">
                <a:latin typeface="+mn-lt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233642" cy="365125"/>
          </a:xfrm>
        </p:spPr>
        <p:txBody>
          <a:bodyPr vert="horz" lIns="91440" tIns="45720" rIns="91440" bIns="45720" rtlCol="0" anchor="ctr"/>
          <a:lstStyle/>
          <a:p>
            <a:fld id="{5824E7C9-E68A-48FC-80A3-273CCB99852B}" type="slidenum">
              <a:rPr lang="ru-RU" sz="1400" smtClean="0">
                <a:cs typeface="Times New Roman" panose="02020603050405020304" pitchFamily="18" charset="0"/>
              </a:rPr>
              <a:pPr/>
              <a:t>13</a:t>
            </a:fld>
            <a:endParaRPr lang="ru-RU" sz="1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577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69411</TotalTime>
  <Words>480</Words>
  <Application>Microsoft Office PowerPoint</Application>
  <PresentationFormat>Экран (4:3)</PresentationFormat>
  <Paragraphs>63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Semibold</vt:lpstr>
      <vt:lpstr>Times New Roman</vt:lpstr>
      <vt:lpstr>Тема Office</vt:lpstr>
      <vt:lpstr>Презентация PowerPoint</vt:lpstr>
      <vt:lpstr>Цель и задачи доклада</vt:lpstr>
      <vt:lpstr>Шифры гаммирования </vt:lpstr>
      <vt:lpstr>Сравнительный анализ</vt:lpstr>
      <vt:lpstr>Гистограммы встречаемости букв</vt:lpstr>
      <vt:lpstr>Гистограммы встречаемости биграмм</vt:lpstr>
      <vt:lpstr>Гистограммы встречаемости триграмм</vt:lpstr>
      <vt:lpstr>Криптоанализ</vt:lpstr>
      <vt:lpstr>Криптоанализ</vt:lpstr>
      <vt:lpstr>Удобство использования</vt:lpstr>
      <vt:lpstr>Разработка ПО</vt:lpstr>
      <vt:lpstr>Результаты ПО</vt:lpstr>
      <vt:lpstr>Спасибо за внимание!</vt:lpstr>
    </vt:vector>
  </TitlesOfParts>
  <Company>MIET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Elena</dc:creator>
  <cp:lastModifiedBy>Gleb Broydo</cp:lastModifiedBy>
  <cp:revision>152</cp:revision>
  <cp:lastPrinted>2018-03-15T15:57:27Z</cp:lastPrinted>
  <dcterms:created xsi:type="dcterms:W3CDTF">2017-12-06T05:38:21Z</dcterms:created>
  <dcterms:modified xsi:type="dcterms:W3CDTF">2025-12-12T10:38:40Z</dcterms:modified>
</cp:coreProperties>
</file>