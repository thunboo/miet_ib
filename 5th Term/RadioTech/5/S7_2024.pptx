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70" r:id="rId7"/>
    <p:sldId id="271" r:id="rId8"/>
    <p:sldId id="272" r:id="rId9"/>
    <p:sldId id="273" r:id="rId10"/>
    <p:sldId id="260" r:id="rId11"/>
    <p:sldId id="261" r:id="rId12"/>
    <p:sldId id="262" r:id="rId13"/>
    <p:sldId id="264" r:id="rId14"/>
    <p:sldId id="265" r:id="rId15"/>
    <p:sldId id="263" r:id="rId16"/>
    <p:sldId id="267" r:id="rId17"/>
    <p:sldId id="266" r:id="rId18"/>
    <p:sldId id="269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3274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Visio_Drawing2.vsd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Семинар </a:t>
            </a:r>
            <a:r>
              <a:rPr lang="en-US" dirty="0"/>
              <a:t>7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0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41" y="1285860"/>
            <a:ext cx="2428860" cy="4718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643050"/>
            <a:ext cx="6715172" cy="4525963"/>
          </a:xfrm>
        </p:spPr>
        <p:txBody>
          <a:bodyPr/>
          <a:lstStyle/>
          <a:p>
            <a:r>
              <a:rPr lang="ru-RU" dirty="0"/>
              <a:t>Определить напряжение </a:t>
            </a:r>
            <a:r>
              <a:rPr lang="en-US" dirty="0"/>
              <a:t>U</a:t>
            </a:r>
            <a:r>
              <a:rPr lang="ru-RU" dirty="0" err="1"/>
              <a:t>вых</a:t>
            </a:r>
            <a:r>
              <a:rPr lang="ru-RU" dirty="0"/>
              <a:t>,     если </a:t>
            </a:r>
            <a:r>
              <a:rPr lang="en-US" dirty="0"/>
              <a:t>U</a:t>
            </a:r>
            <a:r>
              <a:rPr lang="ru-RU" dirty="0" err="1"/>
              <a:t>п</a:t>
            </a:r>
            <a:r>
              <a:rPr lang="ru-RU" dirty="0"/>
              <a:t> = 10 В, </a:t>
            </a:r>
            <a:r>
              <a:rPr lang="en-US" dirty="0"/>
              <a:t>I1 = </a:t>
            </a:r>
            <a:r>
              <a:rPr lang="ru-RU" dirty="0"/>
              <a:t>100</a:t>
            </a:r>
            <a:r>
              <a:rPr lang="en-US" dirty="0"/>
              <a:t> </a:t>
            </a:r>
            <a:r>
              <a:rPr lang="ru-RU" dirty="0"/>
              <a:t>мкА, </a:t>
            </a:r>
            <a:r>
              <a:rPr lang="en-US" dirty="0"/>
              <a:t>R1 = 10 </a:t>
            </a:r>
            <a:r>
              <a:rPr lang="ru-RU" dirty="0"/>
              <a:t>кОм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Поведение биполярного транзистора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b="66185"/>
          <a:stretch>
            <a:fillRect/>
          </a:stretch>
        </p:blipFill>
        <p:spPr bwMode="auto">
          <a:xfrm>
            <a:off x="-32346" y="1428736"/>
            <a:ext cx="8962064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1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Решить предыдущую задачу, если известно сопротивление нагрузки: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L</a:t>
            </a:r>
            <a:r>
              <a:rPr lang="en-US" dirty="0"/>
              <a:t> = 1 </a:t>
            </a:r>
            <a:r>
              <a:rPr lang="ru-RU" dirty="0"/>
              <a:t>кОм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L</a:t>
            </a:r>
            <a:r>
              <a:rPr lang="en-US" dirty="0"/>
              <a:t> = 10 </a:t>
            </a:r>
            <a:r>
              <a:rPr lang="ru-RU" dirty="0"/>
              <a:t>кОм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L</a:t>
            </a:r>
            <a:r>
              <a:rPr lang="ru-RU" dirty="0"/>
              <a:t> = 100 кОм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4674" y="2214554"/>
            <a:ext cx="2245012" cy="436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14348" y="4429132"/>
            <a:ext cx="52149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U</a:t>
            </a:r>
            <a:r>
              <a:rPr lang="ru-RU" sz="2400" baseline="-25000" dirty="0" err="1"/>
              <a:t>п</a:t>
            </a:r>
            <a:r>
              <a:rPr lang="ru-RU" sz="2400" dirty="0"/>
              <a:t> = 10 В, </a:t>
            </a:r>
            <a:r>
              <a:rPr lang="en-US" sz="2400" dirty="0"/>
              <a:t>I</a:t>
            </a:r>
            <a:r>
              <a:rPr lang="en-US" sz="2400" baseline="-25000" dirty="0"/>
              <a:t>1</a:t>
            </a:r>
            <a:r>
              <a:rPr lang="en-US" sz="2400" dirty="0"/>
              <a:t> = </a:t>
            </a:r>
            <a:r>
              <a:rPr lang="ru-RU" sz="2400" dirty="0"/>
              <a:t>100</a:t>
            </a:r>
            <a:r>
              <a:rPr lang="en-US" sz="2400" dirty="0"/>
              <a:t> </a:t>
            </a:r>
            <a:r>
              <a:rPr lang="ru-RU" sz="2400" dirty="0"/>
              <a:t>мкА, </a:t>
            </a:r>
            <a:r>
              <a:rPr lang="en-US" sz="2400" dirty="0"/>
              <a:t>R</a:t>
            </a:r>
            <a:r>
              <a:rPr lang="en-US" sz="2400" baseline="-25000" dirty="0"/>
              <a:t>1</a:t>
            </a:r>
            <a:r>
              <a:rPr lang="en-US" sz="2400" dirty="0"/>
              <a:t> = 10 </a:t>
            </a:r>
            <a:r>
              <a:rPr lang="ru-RU" sz="2400" dirty="0"/>
              <a:t>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00" y="6000768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 минут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Определение рабочей точки транзистора</a:t>
            </a:r>
          </a:p>
        </p:txBody>
      </p:sp>
      <p:pic>
        <p:nvPicPr>
          <p:cNvPr id="2050" name="Picture 2" descr="Рабочая точка транзисторного каскада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b="21711"/>
          <a:stretch>
            <a:fillRect/>
          </a:stretch>
        </p:blipFill>
        <p:spPr bwMode="auto">
          <a:xfrm>
            <a:off x="714348" y="1600200"/>
            <a:ext cx="7343804" cy="3732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входной рабочей точки</a:t>
            </a: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428736"/>
            <a:ext cx="6715172" cy="4921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3042" y="274638"/>
            <a:ext cx="7043758" cy="1143000"/>
          </a:xfrm>
        </p:spPr>
        <p:txBody>
          <a:bodyPr/>
          <a:lstStyle/>
          <a:p>
            <a:r>
              <a:rPr lang="ru-RU" dirty="0"/>
              <a:t>             Задача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0" y="1600200"/>
            <a:ext cx="4114800" cy="452596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Определить ток базы транзистора </a:t>
            </a:r>
            <a:r>
              <a:rPr lang="en-US" dirty="0"/>
              <a:t>Q1</a:t>
            </a:r>
            <a:r>
              <a:rPr lang="ru-RU" dirty="0"/>
              <a:t>, работающего в помещении, если </a:t>
            </a:r>
            <a:r>
              <a:rPr lang="en-US" dirty="0"/>
              <a:t>U</a:t>
            </a:r>
            <a:r>
              <a:rPr lang="ru-RU" dirty="0" err="1"/>
              <a:t>п</a:t>
            </a:r>
            <a:r>
              <a:rPr lang="ru-RU" dirty="0"/>
              <a:t> = 5 В, С1 = 100 мкФ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R1 = 4·R2</a:t>
            </a:r>
            <a:r>
              <a:rPr lang="ru-RU" dirty="0"/>
              <a:t> = </a:t>
            </a:r>
            <a:r>
              <a:rPr lang="en-US" dirty="0"/>
              <a:t>50</a:t>
            </a:r>
            <a:r>
              <a:rPr lang="ru-RU" dirty="0"/>
              <a:t> кОм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R1 = 3·R2</a:t>
            </a:r>
            <a:r>
              <a:rPr lang="ru-RU" dirty="0"/>
              <a:t> = 1</a:t>
            </a:r>
            <a:r>
              <a:rPr lang="en-US" dirty="0"/>
              <a:t>0</a:t>
            </a:r>
            <a:r>
              <a:rPr lang="ru-RU" dirty="0"/>
              <a:t>0 кОм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R1 = 2·R2</a:t>
            </a:r>
            <a:r>
              <a:rPr lang="ru-RU" dirty="0"/>
              <a:t> = 1</a:t>
            </a:r>
            <a:r>
              <a:rPr lang="en-US" dirty="0"/>
              <a:t>50</a:t>
            </a:r>
            <a:r>
              <a:rPr lang="ru-RU" dirty="0"/>
              <a:t> кОм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786190"/>
            <a:ext cx="3021749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35122"/>
            <a:ext cx="4572000" cy="3351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29388" y="6000768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  <a:r>
              <a:rPr lang="en-US" dirty="0"/>
              <a:t> </a:t>
            </a:r>
            <a:r>
              <a:rPr lang="ru-RU" dirty="0"/>
              <a:t>минут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Определить входное сопротивление усилителя из предыдущей задачи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2714620"/>
            <a:ext cx="407584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929058" y="3714752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U</a:t>
            </a:r>
            <a:r>
              <a:rPr lang="ru-RU" sz="2800" dirty="0" err="1"/>
              <a:t>п</a:t>
            </a:r>
            <a:r>
              <a:rPr lang="ru-RU" sz="2800" dirty="0"/>
              <a:t> = 5 В, С1 = 100 мкФ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sz="2800" dirty="0"/>
              <a:t>R1 = 4·R2 = 50 кОм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sz="2800" dirty="0"/>
              <a:t>R1 = 3·R2 = 100 кОм</a:t>
            </a:r>
          </a:p>
          <a:p>
            <a:pPr marL="914400" lvl="1" indent="-514350">
              <a:buFont typeface="+mj-lt"/>
              <a:buAutoNum type="arabicPeriod"/>
            </a:pPr>
            <a:r>
              <a:rPr lang="pt-BR" sz="2800" dirty="0"/>
              <a:t>R1 = 2·R2 = 150 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388" y="6000768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  <a:r>
              <a:rPr lang="en-US" dirty="0"/>
              <a:t> </a:t>
            </a:r>
            <a:r>
              <a:rPr lang="ru-RU" dirty="0"/>
              <a:t>минут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00172"/>
          </a:xfrm>
        </p:spPr>
        <p:txBody>
          <a:bodyPr>
            <a:normAutofit fontScale="92500"/>
          </a:bodyPr>
          <a:lstStyle/>
          <a:p>
            <a:r>
              <a:rPr lang="ru-RU" dirty="0"/>
              <a:t>Как изменится величина </a:t>
            </a:r>
            <a:r>
              <a:rPr lang="en-US" dirty="0"/>
              <a:t>R1 </a:t>
            </a:r>
            <a:r>
              <a:rPr lang="ru-RU" dirty="0"/>
              <a:t>для предыдущей задачи, если из схемы убрать </a:t>
            </a:r>
            <a:r>
              <a:rPr lang="en-US" dirty="0"/>
              <a:t>R2?</a:t>
            </a:r>
            <a:endParaRPr lang="ru-RU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2066" y="3071810"/>
            <a:ext cx="34480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928934"/>
            <a:ext cx="372448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трелка вправо 6"/>
          <p:cNvSpPr/>
          <p:nvPr/>
        </p:nvSpPr>
        <p:spPr>
          <a:xfrm>
            <a:off x="3714744" y="4929198"/>
            <a:ext cx="114300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2831" y="3429024"/>
            <a:ext cx="46783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5043494" cy="1143000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688987"/>
            <a:ext cx="4257676" cy="4525963"/>
          </a:xfrm>
        </p:spPr>
        <p:txBody>
          <a:bodyPr>
            <a:normAutofit/>
          </a:bodyPr>
          <a:lstStyle/>
          <a:p>
            <a:r>
              <a:rPr lang="ru-RU" sz="2000" dirty="0"/>
              <a:t>Подобрать рабочие точки для схемы усилителя, если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I</a:t>
            </a:r>
            <a:r>
              <a:rPr lang="ru-RU" sz="1800" baseline="-25000" dirty="0"/>
              <a:t>б</a:t>
            </a:r>
            <a:r>
              <a:rPr lang="en-US" sz="1800" dirty="0"/>
              <a:t> = 0,2 </a:t>
            </a:r>
            <a:r>
              <a:rPr lang="ru-RU" sz="1800" dirty="0"/>
              <a:t>мкА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I</a:t>
            </a:r>
            <a:r>
              <a:rPr lang="ru-RU" sz="1800" baseline="-25000" dirty="0"/>
              <a:t>б</a:t>
            </a:r>
            <a:r>
              <a:rPr lang="en-US" sz="1800" dirty="0"/>
              <a:t> = 0</a:t>
            </a:r>
            <a:r>
              <a:rPr lang="ru-RU" sz="1800" dirty="0"/>
              <a:t>,</a:t>
            </a:r>
            <a:r>
              <a:rPr lang="en-US" sz="1800" dirty="0"/>
              <a:t>6 </a:t>
            </a:r>
            <a:r>
              <a:rPr lang="ru-RU" sz="1800" dirty="0"/>
              <a:t>мкА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I</a:t>
            </a:r>
            <a:r>
              <a:rPr lang="ru-RU" sz="1800" baseline="-25000" dirty="0"/>
              <a:t>б</a:t>
            </a:r>
            <a:r>
              <a:rPr lang="en-US" sz="1800" dirty="0"/>
              <a:t> = </a:t>
            </a:r>
            <a:r>
              <a:rPr lang="ru-RU" sz="1800" dirty="0"/>
              <a:t>1,</a:t>
            </a:r>
            <a:r>
              <a:rPr lang="en-US" sz="1800" dirty="0"/>
              <a:t>0 </a:t>
            </a:r>
            <a:r>
              <a:rPr lang="ru-RU" sz="1800" dirty="0"/>
              <a:t>мкА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I</a:t>
            </a:r>
            <a:r>
              <a:rPr lang="ru-RU" sz="1800" baseline="-25000" dirty="0"/>
              <a:t>б</a:t>
            </a:r>
            <a:r>
              <a:rPr lang="en-US" sz="1800" dirty="0"/>
              <a:t> = </a:t>
            </a:r>
            <a:r>
              <a:rPr lang="ru-RU" sz="1800" dirty="0"/>
              <a:t>1</a:t>
            </a:r>
            <a:r>
              <a:rPr lang="en-US" sz="1800" dirty="0"/>
              <a:t>,4 </a:t>
            </a:r>
            <a:r>
              <a:rPr lang="ru-RU" sz="1800" dirty="0"/>
              <a:t>мкА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I</a:t>
            </a:r>
            <a:r>
              <a:rPr lang="ru-RU" sz="1800" baseline="-25000" dirty="0"/>
              <a:t>б</a:t>
            </a:r>
            <a:r>
              <a:rPr lang="en-US" sz="1800" dirty="0"/>
              <a:t> = 1,8 </a:t>
            </a:r>
            <a:r>
              <a:rPr lang="ru-RU" sz="1800" dirty="0"/>
              <a:t>мкА</a:t>
            </a:r>
          </a:p>
          <a:p>
            <a:pPr>
              <a:buNone/>
            </a:pPr>
            <a:endParaRPr lang="ru-RU" sz="2000" dirty="0"/>
          </a:p>
          <a:p>
            <a:endParaRPr lang="ru-RU" sz="200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53855" y="142853"/>
            <a:ext cx="443774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8159" y="3071810"/>
            <a:ext cx="35337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28596" y="6215082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 минут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951FC93-51B9-7AFD-B325-C9F9CF0253EE}"/>
              </a:ext>
            </a:extLst>
          </p:cNvPr>
          <p:cNvCxnSpPr>
            <a:cxnSpLocks/>
          </p:cNvCxnSpPr>
          <p:nvPr/>
        </p:nvCxnSpPr>
        <p:spPr>
          <a:xfrm>
            <a:off x="5148064" y="2492896"/>
            <a:ext cx="180020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4567C5F-15E0-DAFD-D303-B0653C97EBCE}"/>
              </a:ext>
            </a:extLst>
          </p:cNvPr>
          <p:cNvCxnSpPr>
            <a:cxnSpLocks/>
          </p:cNvCxnSpPr>
          <p:nvPr/>
        </p:nvCxnSpPr>
        <p:spPr>
          <a:xfrm flipV="1">
            <a:off x="6588224" y="285724"/>
            <a:ext cx="0" cy="2855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11A00A3-964D-8B50-C630-0300B01513F4}"/>
              </a:ext>
            </a:extLst>
          </p:cNvPr>
          <p:cNvCxnSpPr>
            <a:cxnSpLocks/>
          </p:cNvCxnSpPr>
          <p:nvPr/>
        </p:nvCxnSpPr>
        <p:spPr>
          <a:xfrm flipV="1">
            <a:off x="6048164" y="285724"/>
            <a:ext cx="0" cy="2855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657F4C9-7CCF-AA1E-FE7D-74CFE975B95A}"/>
              </a:ext>
            </a:extLst>
          </p:cNvPr>
          <p:cNvCxnSpPr>
            <a:cxnSpLocks/>
          </p:cNvCxnSpPr>
          <p:nvPr/>
        </p:nvCxnSpPr>
        <p:spPr>
          <a:xfrm flipV="1">
            <a:off x="5500694" y="1556792"/>
            <a:ext cx="0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изменятся рабочие точки, если к предыдущей схеме добавить нагрузку?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0144" y="2786058"/>
            <a:ext cx="4362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44" y="3000372"/>
            <a:ext cx="443774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7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изменятся рабочие точки, если не будет разделительного конденсатора?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30" y="3071810"/>
            <a:ext cx="4362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57562"/>
            <a:ext cx="443774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200026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Как изменятся рабочие точки, если не будет разделительного конденсатора?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RL = R3/3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RL = R3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RL = 3·R3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143240" y="6488668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 минут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30" y="3071810"/>
            <a:ext cx="4362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143248"/>
            <a:ext cx="443774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усилителей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http://cxem.net/tuner/tuner73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16832"/>
            <a:ext cx="8296573" cy="381642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142844" y="4286256"/>
            <a:ext cx="2714644" cy="1571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9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257676" cy="452596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Как изменится значение </a:t>
            </a:r>
            <a:r>
              <a:rPr lang="en-US" dirty="0"/>
              <a:t>R1</a:t>
            </a:r>
            <a:r>
              <a:rPr lang="ru-RU" dirty="0"/>
              <a:t> для предыдущей задачи, если рабочие точки должны быть сохранены?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RL = R3/3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RL = R3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RL = 3·R3 </a:t>
            </a:r>
            <a:endParaRPr lang="ru-RU" dirty="0"/>
          </a:p>
          <a:p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285992"/>
            <a:ext cx="4362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000232" y="6215082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 минут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усилителей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http://cxem.net/tuner/tuner73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16832"/>
            <a:ext cx="8296573" cy="381642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142844" y="4286256"/>
            <a:ext cx="2714644" cy="1571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10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сколько изменится схема, если в неё добавить </a:t>
            </a:r>
            <a:r>
              <a:rPr lang="en-US" dirty="0"/>
              <a:t>R</a:t>
            </a:r>
            <a:r>
              <a:rPr lang="ru-RU" dirty="0"/>
              <a:t>Э?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10 Ом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1</a:t>
            </a:r>
            <a:r>
              <a:rPr lang="en-US" dirty="0"/>
              <a:t>00</a:t>
            </a:r>
            <a:r>
              <a:rPr lang="ru-RU" dirty="0"/>
              <a:t> Ом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1 кОм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143248"/>
            <a:ext cx="4362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000232" y="6215082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 минут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25883" t="4489" r="26666" b="54576"/>
          <a:stretch>
            <a:fillRect/>
          </a:stretch>
        </p:blipFill>
        <p:spPr bwMode="auto">
          <a:xfrm>
            <a:off x="2807537" y="2357430"/>
            <a:ext cx="5796912" cy="4266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/>
              <a:t>11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r>
              <a:rPr lang="ru-RU" dirty="0"/>
              <a:t>Построить схему радиочастотного усилителя мощности, работающего на </a:t>
            </a:r>
            <a:r>
              <a:rPr lang="en-US" dirty="0" err="1"/>
              <a:t>npn</a:t>
            </a:r>
            <a:r>
              <a:rPr lang="en-US" dirty="0"/>
              <a:t> </a:t>
            </a:r>
            <a:r>
              <a:rPr lang="ru-RU" dirty="0"/>
              <a:t>транзисторе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Частота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Полоса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618817"/>
            <a:ext cx="6554552" cy="4160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525963"/>
          </a:xfrm>
        </p:spPr>
        <p:txBody>
          <a:bodyPr/>
          <a:lstStyle/>
          <a:p>
            <a:r>
              <a:rPr lang="ru-RU" dirty="0"/>
              <a:t>Предложить схему усилителя на </a:t>
            </a:r>
            <a:r>
              <a:rPr lang="en-US" dirty="0" err="1"/>
              <a:t>npn</a:t>
            </a:r>
            <a:r>
              <a:rPr lang="en-US" dirty="0"/>
              <a:t> </a:t>
            </a:r>
            <a:r>
              <a:rPr lang="ru-RU" dirty="0"/>
              <a:t>транзисторе</a:t>
            </a:r>
          </a:p>
          <a:p>
            <a:pPr lvl="1"/>
            <a:r>
              <a:rPr lang="ru-RU" dirty="0"/>
              <a:t>усиление 100 раз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r>
              <a:rPr lang="ru-RU" dirty="0"/>
              <a:t>3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Построить схему источника питания, используя </a:t>
            </a:r>
            <a:r>
              <a:rPr lang="en-US" dirty="0"/>
              <a:t>n-</a:t>
            </a:r>
            <a:r>
              <a:rPr lang="ru-RU" dirty="0"/>
              <a:t>канальный МОП транзистор</a:t>
            </a:r>
          </a:p>
          <a:p>
            <a:pPr lvl="1"/>
            <a:r>
              <a:rPr lang="ru-RU" dirty="0"/>
              <a:t>Мощность 200 Вт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3175360"/>
            <a:ext cx="3982963" cy="344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r>
              <a:rPr lang="ru-RU" dirty="0"/>
              <a:t>4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Предложить схему генератора (мультивибратора) </a:t>
            </a:r>
          </a:p>
          <a:p>
            <a:pPr lvl="1"/>
            <a:r>
              <a:rPr lang="ru-RU" dirty="0"/>
              <a:t>Частота</a:t>
            </a:r>
            <a:r>
              <a:rPr lang="en-US" dirty="0"/>
              <a:t> 10 </a:t>
            </a:r>
            <a:r>
              <a:rPr lang="ru-RU" dirty="0"/>
              <a:t>МГц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573016"/>
            <a:ext cx="588719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3501400"/>
            <a:ext cx="2815591" cy="280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04248" y="2132856"/>
            <a:ext cx="2101230" cy="1340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r>
              <a:rPr lang="ru-RU" dirty="0"/>
              <a:t>5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Определить рабочие точки усилителя МШУ (вычислить </a:t>
            </a:r>
            <a:r>
              <a:rPr lang="en-US" dirty="0"/>
              <a:t>R</a:t>
            </a:r>
            <a:r>
              <a:rPr lang="ru-RU" dirty="0"/>
              <a:t>5-</a:t>
            </a:r>
            <a:r>
              <a:rPr lang="en-US" dirty="0"/>
              <a:t>R</a:t>
            </a:r>
            <a:r>
              <a:rPr lang="ru-RU" dirty="0"/>
              <a:t>7)</a:t>
            </a:r>
          </a:p>
          <a:p>
            <a:pPr lvl="1"/>
            <a:r>
              <a:rPr lang="ru-RU" dirty="0"/>
              <a:t>ВАХ транзистора </a:t>
            </a:r>
            <a:r>
              <a:rPr lang="en-US" dirty="0"/>
              <a:t>Q</a:t>
            </a:r>
            <a:r>
              <a:rPr lang="ru-RU" dirty="0"/>
              <a:t>3, коэффициент усиления МШУ = </a:t>
            </a:r>
            <a:r>
              <a:rPr lang="ru-RU" b="1" i="1" dirty="0"/>
              <a:t>20</a:t>
            </a:r>
            <a:r>
              <a:rPr lang="ru-RU" dirty="0"/>
              <a:t>, частота сигнала = </a:t>
            </a:r>
            <a:r>
              <a:rPr lang="ru-RU" b="1" i="1" dirty="0"/>
              <a:t>27</a:t>
            </a:r>
            <a:r>
              <a:rPr lang="ru-RU" dirty="0"/>
              <a:t> [МГц], напряжение питания =</a:t>
            </a:r>
            <a:r>
              <a:rPr lang="ru-RU" b="1" i="1" dirty="0"/>
              <a:t>6</a:t>
            </a:r>
            <a:r>
              <a:rPr lang="ru-RU" dirty="0"/>
              <a:t> [В]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-3357618" y="3929066"/>
          <a:ext cx="10987845" cy="2714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4033699" imgH="3460588" progId="Visio.Drawing.15">
                  <p:embed/>
                </p:oleObj>
              </mc:Choice>
              <mc:Fallback>
                <p:oleObj name="Visio" r:id="rId2" imgW="14033699" imgH="3460588" progId="Visio.Drawing.15">
                  <p:embed/>
                  <p:pic>
                    <p:nvPicPr>
                      <p:cNvPr id="10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357618" y="3929066"/>
                        <a:ext cx="10987845" cy="27146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1</a:t>
            </a:r>
            <a:r>
              <a:rPr lang="ru-RU" dirty="0"/>
              <a:t>5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51026" y="1428736"/>
          <a:ext cx="8872900" cy="335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49590" imgH="1644673" progId="Visio.Drawing.15">
                  <p:embed/>
                </p:oleObj>
              </mc:Choice>
              <mc:Fallback>
                <p:oleObj name="Visio" r:id="rId2" imgW="4349590" imgH="1644673" progId="Visio.Drawing.15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6" y="1428736"/>
                        <a:ext cx="8872900" cy="3357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-3357563" y="4143380"/>
          <a:ext cx="11854488" cy="292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4033699" imgH="3460588" progId="Visio.Drawing.15">
                  <p:embed/>
                </p:oleObj>
              </mc:Choice>
              <mc:Fallback>
                <p:oleObj name="Visio" r:id="rId4" imgW="14033699" imgH="3460588" progId="Visio.Drawing.15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357563" y="4143380"/>
                        <a:ext cx="11854488" cy="292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437</Words>
  <Application>Microsoft Office PowerPoint</Application>
  <PresentationFormat>Экран (4:3)</PresentationFormat>
  <Paragraphs>77</Paragraphs>
  <Slides>23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Тема Office</vt:lpstr>
      <vt:lpstr>Visio</vt:lpstr>
      <vt:lpstr>Семинар 7</vt:lpstr>
      <vt:lpstr>Задача 0</vt:lpstr>
      <vt:lpstr>Поведение биполярного транзистора </vt:lpstr>
      <vt:lpstr>Задача 1</vt:lpstr>
      <vt:lpstr>Определение рабочей точки транзистора</vt:lpstr>
      <vt:lpstr>Выбор входной рабочей точки</vt:lpstr>
      <vt:lpstr>             Задача 2</vt:lpstr>
      <vt:lpstr>Задача 3</vt:lpstr>
      <vt:lpstr>Задача 4</vt:lpstr>
      <vt:lpstr>Задача 5</vt:lpstr>
      <vt:lpstr>Задача 6</vt:lpstr>
      <vt:lpstr>Задача 7</vt:lpstr>
      <vt:lpstr>Задача 8</vt:lpstr>
      <vt:lpstr>Схемы усилителей</vt:lpstr>
      <vt:lpstr>Задача 9</vt:lpstr>
      <vt:lpstr>Схемы усилителей</vt:lpstr>
      <vt:lpstr>Задача 10</vt:lpstr>
      <vt:lpstr>Задача 11</vt:lpstr>
      <vt:lpstr>Задача 12</vt:lpstr>
      <vt:lpstr>Задача 13</vt:lpstr>
      <vt:lpstr>Задача 14</vt:lpstr>
      <vt:lpstr>Задача 15</vt:lpstr>
      <vt:lpstr>Задача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01.12.2021</dc:title>
  <dc:creator>Александр Тимошенко</dc:creator>
  <cp:lastModifiedBy>Gleb Broydo</cp:lastModifiedBy>
  <cp:revision>21</cp:revision>
  <dcterms:created xsi:type="dcterms:W3CDTF">2021-12-01T06:24:01Z</dcterms:created>
  <dcterms:modified xsi:type="dcterms:W3CDTF">2025-12-19T00:46:06Z</dcterms:modified>
</cp:coreProperties>
</file>